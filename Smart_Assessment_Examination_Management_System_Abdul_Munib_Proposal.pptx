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</ns0:sldIdLst>
  <ns0:sldSz cx="12192000" cy="6858000" type="screen4x3"/>
  <ns0:notesSz cx="6858000" cy="9144000"/>
  <ns0:embeddedFontLst>
    <ns0:embeddedFont>
      <ns0:font typeface="Inter"/>
      <ns0:bold ns1:id="rIdFont12"/>
      <ns0:regular ns1:id="rIdFont13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Font12" Type="http://schemas.openxmlformats.org/officeDocument/2006/relationships/font" Target="fonts/417df433-942a-41ef-9c4d-2cb7fd942c32.fntdata" /><ns0:Relationship Id="rIdFont13" Type="http://schemas.openxmlformats.org/officeDocument/2006/relationships/font" Target="fonts/83da99c8-beee-4c08-9ee0-121cbba75c81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4924425"/>
            <a:ext cx="6096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490" y="2657475"/>
            <a:ext cx="6126509" cy="8858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03490" y="3695700"/>
            <a:ext cx="6126509" cy="8858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03490" y="4733925"/>
            <a:ext cx="6126509" cy="10763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03490" y="2657475"/>
            <a:ext cx="38100" cy="88582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03490" y="3695700"/>
            <a:ext cx="38100" cy="885825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490" y="4733925"/>
            <a:ext cx="38100" cy="107632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609600"/>
            <a:ext cx="114300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Online Examination, Assessment &amp; Evaluation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1104900"/>
            <a:ext cx="11430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64748B"/>
                </a:solidFill>
                <a:latin typeface="Inter"/>
              </a:rPr>
              <a:t>INTRODUCTION &amp; NCEAC CCP JUSTIFICATION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3048000"/>
            <a:ext cx="536063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2563EB"/>
                </a:solidFill>
                <a:latin typeface="Inter"/>
              </a:rPr>
              <a:t>The Core 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3476625"/>
            <a:ext cx="417954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334155"/>
                </a:solidFill>
                <a:latin typeface="Inter"/>
              </a:rPr>
              <a:t>Assessment platforms are highly fragmented. Academic tools lack deep skill mapping, while corporate HR tools are too costly and rigid for university exams.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490" y="2200275"/>
            <a:ext cx="688850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Complex Computing Problem (CCP) Alignment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0190" y="2886075"/>
            <a:ext cx="662180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Conflicting Requirements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0190" y="3124200"/>
            <a:ext cx="6621809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Balancing high-security proctoring with low-bandwidth accessibility.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0190" y="3924300"/>
            <a:ext cx="662180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Depth of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0190" y="4162425"/>
            <a:ext cx="6621809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Mapping performance to multi-dimensional skill matrices, not just flat scores.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0190" y="4962525"/>
            <a:ext cx="662180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Component Interdependence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0190" y="5200650"/>
            <a:ext cx="5726459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Tight coupling between real-time exam engines, auto-evaluation, and audit logs.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762000" y="2524125"/>
          <a:ext cx="10667997" cy="296227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220366"/>
                <a:gridCol w="1897409"/>
                <a:gridCol w="2311151"/>
                <a:gridCol w="1584424"/>
                <a:gridCol w="2654647"/>
              </a:tblGrid>
              <a:tr h="59245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Inter"/>
                        </a:rPr>
                        <a:t>Feature / Platform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Inter"/>
                        </a:rPr>
                        <a:t>Moodle / Canvas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Inter"/>
                        </a:rPr>
                        <a:t>Mercer | Mettl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Inter"/>
                        </a:rPr>
                        <a:t>TestGorilla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2563EB"/>
                          </a:solidFill>
                          <a:latin typeface="Inter"/>
                        </a:rPr>
                        <a:t>Proposed System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</a:tr>
              <a:tr h="592455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Inter"/>
                        </a:rPr>
                        <a:t>Primary Domain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64748B"/>
                          </a:solidFill>
                          <a:latin typeface="Inter"/>
                        </a:rPr>
                        <a:t>Academic Only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64748B"/>
                          </a:solidFill>
                          <a:latin typeface="Inter"/>
                        </a:rPr>
                        <a:t>Enterprise / Academic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64748B"/>
                          </a:solidFill>
                          <a:latin typeface="Inter"/>
                        </a:rPr>
                        <a:t>Corporate HR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D4ED8"/>
                          </a:solidFill>
                          <a:latin typeface="Inter"/>
                        </a:rPr>
                        <a:t>Hybrid (Edu &amp; Corp)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</a:tr>
              <a:tr h="592455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Inter"/>
                        </a:rPr>
                        <a:t>Question Bank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64748B"/>
                          </a:solidFill>
                          <a:latin typeface="Inter"/>
                        </a:rPr>
                        <a:t>Course-Siloed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64748B"/>
                          </a:solidFill>
                          <a:latin typeface="Inter"/>
                        </a:rPr>
                        <a:t>Proprietary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64748B"/>
                          </a:solidFill>
                          <a:latin typeface="Inter"/>
                        </a:rPr>
                        <a:t>Proprietary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D4ED8"/>
                          </a:solidFill>
                          <a:latin typeface="Inter"/>
                        </a:rPr>
                        <a:t>Cross-Org Tagging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</a:tr>
              <a:tr h="592455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Inter"/>
                        </a:rPr>
                        <a:t>Evaluation Depth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64748B"/>
                          </a:solidFill>
                          <a:latin typeface="Inter"/>
                        </a:rPr>
                        <a:t>Basic Score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64748B"/>
                          </a:solidFill>
                          <a:latin typeface="Inter"/>
                        </a:rPr>
                        <a:t>Advanced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64748B"/>
                          </a:solidFill>
                          <a:latin typeface="Inter"/>
                        </a:rPr>
                        <a:t>Moderate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D4ED8"/>
                          </a:solidFill>
                          <a:latin typeface="Inter"/>
                        </a:rPr>
                        <a:t>Skill &amp; Competency Maps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</a:tr>
              <a:tr h="592455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Inter"/>
                        </a:rPr>
                        <a:t>Integrity / Proctoring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64748B"/>
                          </a:solidFill>
                          <a:latin typeface="Inter"/>
                        </a:rPr>
                        <a:t>Requires Plugins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64748B"/>
                          </a:solidFill>
                          <a:latin typeface="Inter"/>
                        </a:rPr>
                        <a:t>High (AI Video)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64748B"/>
                          </a:solidFill>
                          <a:latin typeface="Inter"/>
                        </a:rPr>
                        <a:t>High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D4ED8"/>
                          </a:solidFill>
                          <a:latin typeface="Inter"/>
                        </a:rPr>
                        <a:t>Browser Heuristics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62000" y="609600"/>
            <a:ext cx="114300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Market Benchmarking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104900"/>
            <a:ext cx="11430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64748B"/>
                </a:solidFill>
                <a:latin typeface="Inter"/>
              </a:rPr>
              <a:t>IDENTIFYING THE RESEARCH GAP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49217" y="2095500"/>
            <a:ext cx="5780782" cy="3819525"/>
          </a:xfrm>
          <a:prstGeom prst="roundRect">
            <a:avLst>
              <a:gd name="adj" fmla="val 2992"/>
            </a:avLst>
          </a:prstGeom>
          <a:solidFill>
            <a:srgbClr val="F8FAFC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73067" y="2419350"/>
            <a:ext cx="5133082" cy="514350"/>
          </a:xfrm>
          <a:prstGeom prst="roundRect">
            <a:avLst>
              <a:gd name="adj" fmla="val 1481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73067" y="3429000"/>
            <a:ext cx="5133082" cy="514350"/>
          </a:xfrm>
          <a:prstGeom prst="roundRect">
            <a:avLst>
              <a:gd name="adj" fmla="val 14814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73067" y="4095750"/>
            <a:ext cx="1609427" cy="485775"/>
          </a:xfrm>
          <a:prstGeom prst="roundRect">
            <a:avLst>
              <a:gd name="adj" fmla="val 15686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34895" y="4095750"/>
            <a:ext cx="1609427" cy="485775"/>
          </a:xfrm>
          <a:prstGeom prst="roundRect">
            <a:avLst>
              <a:gd name="adj" fmla="val 15686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496722" y="4095750"/>
            <a:ext cx="1609427" cy="485775"/>
          </a:xfrm>
          <a:prstGeom prst="roundRect">
            <a:avLst>
              <a:gd name="adj" fmla="val 15686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73067" y="5076825"/>
            <a:ext cx="2490341" cy="514350"/>
          </a:xfrm>
          <a:prstGeom prst="roundRect">
            <a:avLst>
              <a:gd name="adj" fmla="val 1481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15808" y="5076825"/>
            <a:ext cx="2490341" cy="514350"/>
          </a:xfrm>
          <a:prstGeom prst="roundRect">
            <a:avLst>
              <a:gd name="adj" fmla="val 1481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8171" y="3086100"/>
            <a:ext cx="142875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8171" y="4733925"/>
            <a:ext cx="142875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967037"/>
            <a:ext cx="257175" cy="2476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3424237"/>
            <a:ext cx="200025" cy="2476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3881437"/>
            <a:ext cx="200025" cy="2476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4338637"/>
            <a:ext cx="257175" cy="2476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4795837"/>
            <a:ext cx="228600" cy="2476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62000" y="609600"/>
            <a:ext cx="114300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System Architecture &amp; Features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1104900"/>
            <a:ext cx="11430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64748B"/>
                </a:solidFill>
                <a:latin typeface="Inter"/>
              </a:rPr>
              <a:t>SCALABLE, MULTI-TENANT 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36232" y="2571750"/>
            <a:ext cx="5806752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334155"/>
                </a:solidFill>
                <a:latin typeface="Inter"/>
              </a:rPr>
              <a:t>Web Layer (React.js UI)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36232" y="3581400"/>
            <a:ext cx="5806752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1E3A8A"/>
                </a:solidFill>
                <a:latin typeface="Inter"/>
              </a:rPr>
              <a:t>API Gateway &amp; Services (Node.js)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9200" y="2976562"/>
            <a:ext cx="3915667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500" i="0" u="none">
                <a:solidFill>
                  <a:srgbClr val="0F172A"/>
                </a:solidFill>
                <a:latin typeface="Inter"/>
              </a:rPr>
              <a:t>Multi-tenant Role Management.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19200" y="3433762"/>
            <a:ext cx="3915667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500" i="0" u="none">
                <a:solidFill>
                  <a:srgbClr val="0F172A"/>
                </a:solidFill>
                <a:latin typeface="Inter"/>
              </a:rPr>
              <a:t>Dynamic Tagged Question Banks.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9200" y="3890962"/>
            <a:ext cx="3915667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500" i="0" u="none">
                <a:solidFill>
                  <a:srgbClr val="0F172A"/>
                </a:solidFill>
                <a:latin typeface="Inter"/>
              </a:rPr>
              <a:t>Real-time Resilient Exam Engine.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19200" y="4348162"/>
            <a:ext cx="3915667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500" i="0" u="none">
                <a:solidFill>
                  <a:srgbClr val="0F172A"/>
                </a:solidFill>
                <a:latin typeface="Inter"/>
              </a:rPr>
              <a:t>Competency &amp; Skill Analytics.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9200" y="4805362"/>
            <a:ext cx="3915667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500" i="0" u="none">
                <a:solidFill>
                  <a:srgbClr val="0F172A"/>
                </a:solidFill>
                <a:latin typeface="Inter"/>
              </a:rPr>
              <a:t>Heuristic Anti-Cheating Controls.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24289" y="4248150"/>
            <a:ext cx="1706984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166534"/>
                </a:solidFill>
                <a:latin typeface="Inter"/>
              </a:rPr>
              <a:t>Exam Engine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6116" y="4248150"/>
            <a:ext cx="1706984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166534"/>
                </a:solidFill>
                <a:latin typeface="Inter"/>
              </a:rPr>
              <a:t>Proctoring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47944" y="4248150"/>
            <a:ext cx="1706984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166534"/>
                </a:solidFill>
                <a:latin typeface="Inter"/>
              </a:rPr>
              <a:t>Evaluation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14175" y="5229225"/>
            <a:ext cx="2808126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334155"/>
                </a:solidFill>
                <a:latin typeface="Inter"/>
              </a:rPr>
              <a:t>PostgreSQL (Data)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6916" y="5229225"/>
            <a:ext cx="2808126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334155"/>
                </a:solidFill>
                <a:latin typeface="Inter"/>
              </a:rPr>
              <a:t>Redis (Live State)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919412"/>
            <a:ext cx="2438400" cy="2171700"/>
          </a:xfrm>
          <a:prstGeom prst="roundRect">
            <a:avLst>
              <a:gd name="adj" fmla="val 701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505200" y="3014662"/>
            <a:ext cx="2438400" cy="19812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48400" y="2919412"/>
            <a:ext cx="2438400" cy="2171700"/>
          </a:xfrm>
          <a:prstGeom prst="roundRect">
            <a:avLst>
              <a:gd name="adj" fmla="val 701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91600" y="2919412"/>
            <a:ext cx="2438400" cy="2171700"/>
          </a:xfrm>
          <a:prstGeom prst="roundRect">
            <a:avLst>
              <a:gd name="adj" fmla="val 701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3309937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4375" y="3405187"/>
            <a:ext cx="40005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7575" y="3309937"/>
            <a:ext cx="40005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5050" y="3309937"/>
            <a:ext cx="571500" cy="457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2000" y="609600"/>
            <a:ext cx="114300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Tools &amp; Technologies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1104900"/>
            <a:ext cx="11430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64748B"/>
                </a:solidFill>
                <a:latin typeface="Inter"/>
              </a:rPr>
              <a:t>MODERN, SCALABLE WEB STACK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3564" y="3995737"/>
            <a:ext cx="2175271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0F172A"/>
                </a:solidFill>
                <a:latin typeface="Inter"/>
              </a:rPr>
              <a:t>Frontend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5356" y="4319587"/>
            <a:ext cx="2071687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64748B"/>
                </a:solidFill>
                <a:latin typeface="Inter"/>
              </a:rPr>
              <a:t>React.js &amp; Tailwind CSS.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6764" y="4090987"/>
            <a:ext cx="2175271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0F172A"/>
                </a:solidFill>
                <a:latin typeface="Inter"/>
              </a:rPr>
              <a:t>Backend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8556" y="4414837"/>
            <a:ext cx="207168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64748B"/>
                </a:solidFill>
                <a:latin typeface="Inter"/>
              </a:rPr>
              <a:t>Node.js &amp; Express API.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9964" y="3995737"/>
            <a:ext cx="2175271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0F172A"/>
                </a:solidFill>
                <a:latin typeface="Inter"/>
              </a:rPr>
              <a:t>Database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1756" y="4319587"/>
            <a:ext cx="2071687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64748B"/>
                </a:solidFill>
                <a:latin typeface="Inter"/>
              </a:rPr>
              <a:t>PostgreSQL &amp; Redis Caching.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23164" y="3995737"/>
            <a:ext cx="2175271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0F172A"/>
                </a:solidFill>
                <a:latin typeface="Inter"/>
              </a:rPr>
              <a:t>Infrastructure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74956" y="4319587"/>
            <a:ext cx="2071687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64748B"/>
                </a:solidFill>
                <a:latin typeface="Inter"/>
              </a:rPr>
              <a:t>Docker &amp; Git Version Control.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09600"/>
            <a:ext cx="114300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F8FAFC"/>
                </a:solidFill>
                <a:latin typeface="Inter"/>
              </a:rPr>
              <a:t>Development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104900"/>
            <a:ext cx="11430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94A3B8"/>
                </a:solidFill>
                <a:latin typeface="Inter"/>
              </a:rPr>
              <a:t>16-WEEK AGILE EXECUTION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3671887"/>
            <a:ext cx="853440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866900" y="3443287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3810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33900" y="3443287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3810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200900" y="3443287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3810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867900" y="3443287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3810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24025" y="3443287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500" i="0" u="none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9099" y="4129087"/>
            <a:ext cx="241280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F1F5F9"/>
                </a:solidFill>
                <a:latin typeface="Inter"/>
              </a:rPr>
              <a:t>Architecture &amp;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24025" y="4405312"/>
            <a:ext cx="10287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Inter"/>
              </a:rPr>
              <a:t>Weeks 1 –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91025" y="3443287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500" i="0" u="none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8632" y="4129087"/>
            <a:ext cx="188773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F1F5F9"/>
                </a:solidFill>
                <a:latin typeface="Inter"/>
              </a:rPr>
              <a:t>Core Bank &amp; Auth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76737" y="4405312"/>
            <a:ext cx="10572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Inter"/>
              </a:rPr>
              <a:t>Weeks 4 – 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58025" y="3443287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500" i="0" u="none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54340" y="4129087"/>
            <a:ext cx="255031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F1F5F9"/>
                </a:solidFill>
                <a:latin typeface="Inter"/>
              </a:rPr>
              <a:t>Real-Time Exam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19925" y="4405312"/>
            <a:ext cx="11049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Inter"/>
              </a:rPr>
              <a:t>Weeks 7 – 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25025" y="3443287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500" i="0" u="none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0117" y="4129087"/>
            <a:ext cx="211276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F1F5F9"/>
                </a:solidFill>
                <a:latin typeface="Inter"/>
              </a:rPr>
              <a:t>Analytics &amp; Testing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67875" y="4405312"/>
            <a:ext cx="11430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Inter"/>
              </a:rPr>
              <a:t>Weeks 11 –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